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14630400" cy="8229600"/>
  <p:notesSz cx="8229600" cy="14630400"/>
  <p:embeddedFontLst>
    <p:embeddedFont>
      <p:font typeface="Bitter Medium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13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3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79477"/>
            <a:ext cx="58109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Models Benchmark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28417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Comparative Analysis of Intelligence, Cost, Performance &amp; Use Cases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905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evaluation of modern large language models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316260"/>
            <a:ext cx="3147179" cy="426244"/>
          </a:xfrm>
          <a:prstGeom prst="roundRect">
            <a:avLst>
              <a:gd name="adj" fmla="val 17880"/>
            </a:avLst>
          </a:prstGeom>
          <a:solidFill>
            <a:srgbClr val="FCE2C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78" y="5438656"/>
            <a:ext cx="181451" cy="181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2055" y="5384244"/>
            <a:ext cx="26028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 RUPNATH SHAW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054316" y="5308640"/>
            <a:ext cx="3396734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D2600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8025" y="5438656"/>
            <a:ext cx="181451" cy="1814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70202" y="5384244"/>
            <a:ext cx="2837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• PANDAS • MATPLOTLIB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6293"/>
            <a:ext cx="69607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Why This Analysis Matters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203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60" y="2205395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198251"/>
            <a:ext cx="27872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Business Workflows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133725"/>
            <a:ext cx="27872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LLMs now power analytics, development, content creation, and customer support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01647" y="21203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6717" y="2205395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8762" y="2198251"/>
            <a:ext cx="2787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Complex Trade-offs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338762" y="2779395"/>
            <a:ext cx="278737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selection involves balancing intelligence, cost, speed, and usability—not a single "best" choice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0475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0" y="5132546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125403"/>
            <a:ext cx="27872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Beyond Intelligence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5706547"/>
            <a:ext cx="27872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Cost, latency, and performance metrics matter as much as raw capability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601647" y="50475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6717" y="5132546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38762" y="5125403"/>
            <a:ext cx="2787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Brand vs. Data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5338762" y="5706547"/>
            <a:ext cx="27873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organizations choose models based on hype rather than evidence</a:t>
            </a:r>
            <a:endParaRPr lang="en-US" sz="17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7157" y="2120384"/>
            <a:ext cx="5156954" cy="361890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027319" y="5994440"/>
            <a:ext cx="4816793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</a:t>
            </a:r>
            <a:r>
              <a:rPr lang="en-US" sz="2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Enable defensible, data-driven model selection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8687157" y="5994440"/>
            <a:ext cx="30480" cy="907018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909DC0-E377-4C0D-AA63-FAAC1C1EAC6B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4858"/>
            <a:ext cx="2085499" cy="370642"/>
          </a:xfrm>
          <a:prstGeom prst="roundRect">
            <a:avLst>
              <a:gd name="adj" fmla="val 18506"/>
            </a:avLst>
          </a:prstGeom>
          <a:solidFill>
            <a:srgbClr val="FCE2CF"/>
          </a:solidFill>
          <a:ln/>
        </p:spPr>
      </p:sp>
      <p:sp>
        <p:nvSpPr>
          <p:cNvPr id="3" name="Text 1"/>
          <p:cNvSpPr/>
          <p:nvPr/>
        </p:nvSpPr>
        <p:spPr>
          <a:xfrm>
            <a:off x="916186" y="826056"/>
            <a:ext cx="184070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&amp; OBJECTIVES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08961"/>
            <a:ext cx="9206389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Structured Framework for AI Selection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3790" y="2122408"/>
            <a:ext cx="4225052" cy="2889528"/>
          </a:xfrm>
          <a:prstGeom prst="roundRect">
            <a:avLst>
              <a:gd name="adj" fmla="val 29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0087" y="2334101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D2600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8441" y="2502456"/>
            <a:ext cx="275511" cy="2755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30442" y="313015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Problem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05483" y="3559135"/>
            <a:ext cx="3801666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Organizations lack a structured framework to compare AI models across performance, cost, and user experience dimensions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02555" y="2122408"/>
            <a:ext cx="4225171" cy="2889528"/>
          </a:xfrm>
          <a:prstGeom prst="roundRect">
            <a:avLst>
              <a:gd name="adj" fmla="val 29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08971" y="2334101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D2600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7326" y="2502456"/>
            <a:ext cx="275511" cy="2755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9207" y="313015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Compare Metrics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14248" y="3559135"/>
            <a:ext cx="380178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models across intelligence, price per million tokens, speed, latency, and context window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611439" y="2122408"/>
            <a:ext cx="4225171" cy="2889528"/>
          </a:xfrm>
          <a:prstGeom prst="roundRect">
            <a:avLst>
              <a:gd name="adj" fmla="val 29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417856" y="2334101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D2600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86210" y="2502456"/>
            <a:ext cx="275511" cy="27551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94752" y="3130153"/>
            <a:ext cx="265854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Identify Value Leaders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9823133" y="3559135"/>
            <a:ext cx="380178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Surface high-value and cost-efficient models that deliver exceptional performance relative to price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93790" y="5195649"/>
            <a:ext cx="6429494" cy="2268974"/>
          </a:xfrm>
          <a:prstGeom prst="roundRect">
            <a:avLst>
              <a:gd name="adj" fmla="val 377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702368" y="540734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D2600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0722" y="5575697"/>
            <a:ext cx="275511" cy="27551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42830" y="6203394"/>
            <a:ext cx="273141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Understand Trade-offs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1005483" y="6632377"/>
            <a:ext cx="600610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specialization patterns—which models optimize for speed vs. intelligence vs. cost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406997" y="5195649"/>
            <a:ext cx="6429613" cy="2268974"/>
          </a:xfrm>
          <a:prstGeom prst="roundRect">
            <a:avLst>
              <a:gd name="adj" fmla="val 377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315575" y="540734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D2600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83929" y="5575697"/>
            <a:ext cx="275511" cy="27551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45930" y="620339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Real-World Mapping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7618690" y="6632377"/>
            <a:ext cx="600622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 model characteristics to specific business use cases and deployment scenarios</a:t>
            </a:r>
            <a:endParaRPr lang="en-US" sz="16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6CD4474-B259-459F-87E9-4F560F08CC8C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548" y="0"/>
            <a:ext cx="5066852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83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Overview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2275642"/>
            <a:ext cx="226814" cy="22681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3790" y="2602349"/>
            <a:ext cx="36647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6" name="Text 2"/>
          <p:cNvSpPr/>
          <p:nvPr/>
        </p:nvSpPr>
        <p:spPr>
          <a:xfrm>
            <a:off x="793790" y="2776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Structure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3267075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row represents one AI model. Each column captures a performance or cost metric.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5348" y="2275642"/>
            <a:ext cx="226814" cy="22681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85348" y="2602349"/>
            <a:ext cx="36648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0" name="Text 5"/>
          <p:cNvSpPr/>
          <p:nvPr/>
        </p:nvSpPr>
        <p:spPr>
          <a:xfrm>
            <a:off x="4685348" y="2776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685348" y="3267075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Index, Price (USD/1M tokens), Speed (tokens/sec), Latency (seconds), Context window size, Creator/vendor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143857"/>
            <a:ext cx="226814" cy="22681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93790" y="5470565"/>
            <a:ext cx="7556421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4" name="Text 8"/>
          <p:cNvSpPr/>
          <p:nvPr/>
        </p:nvSpPr>
        <p:spPr>
          <a:xfrm>
            <a:off x="793790" y="5644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Scope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61352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Cross-sectional benchmark captured at a single point in time—not a longitudinal time-series analysis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08DEF50-2321-4362-88F2-76BF41CA603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39464" b="2218"/>
          <a:stretch/>
        </p:blipFill>
        <p:spPr>
          <a:xfrm>
            <a:off x="9563548" y="0"/>
            <a:ext cx="5066852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239" y="606743"/>
            <a:ext cx="7509629" cy="620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Preparation &amp; Methodology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72239" y="1674019"/>
            <a:ext cx="3837742" cy="37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the Data Was Prepared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95601" y="2247305"/>
            <a:ext cx="22860" cy="4508421"/>
          </a:xfrm>
          <a:prstGeom prst="roundRect">
            <a:avLst>
              <a:gd name="adj" fmla="val 364843"/>
            </a:avLst>
          </a:prstGeom>
          <a:solidFill>
            <a:srgbClr val="E2C8B5"/>
          </a:solidFill>
          <a:ln/>
        </p:spPr>
      </p:sp>
      <p:sp>
        <p:nvSpPr>
          <p:cNvPr id="5" name="Shape 3"/>
          <p:cNvSpPr/>
          <p:nvPr/>
        </p:nvSpPr>
        <p:spPr>
          <a:xfrm>
            <a:off x="1196102" y="2459236"/>
            <a:ext cx="595670" cy="22860"/>
          </a:xfrm>
          <a:prstGeom prst="roundRect">
            <a:avLst>
              <a:gd name="adj" fmla="val 364843"/>
            </a:avLst>
          </a:prstGeom>
          <a:solidFill>
            <a:srgbClr val="E2C8B5"/>
          </a:solidFill>
          <a:ln/>
        </p:spPr>
      </p:sp>
      <p:sp>
        <p:nvSpPr>
          <p:cNvPr id="6" name="Shape 4"/>
          <p:cNvSpPr/>
          <p:nvPr/>
        </p:nvSpPr>
        <p:spPr>
          <a:xfrm>
            <a:off x="772239" y="2247305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713" y="2321778"/>
            <a:ext cx="297775" cy="2977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88463" y="2315528"/>
            <a:ext cx="248221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Standardization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988463" y="2804517"/>
            <a:ext cx="7120057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Converted text-based metrics to numeric values for analysis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196102" y="3675698"/>
            <a:ext cx="595670" cy="22860"/>
          </a:xfrm>
          <a:prstGeom prst="roundRect">
            <a:avLst>
              <a:gd name="adj" fmla="val 364843"/>
            </a:avLst>
          </a:prstGeom>
          <a:solidFill>
            <a:srgbClr val="E2C8B5"/>
          </a:solidFill>
          <a:ln/>
        </p:spPr>
      </p:sp>
      <p:sp>
        <p:nvSpPr>
          <p:cNvPr id="11" name="Shape 8"/>
          <p:cNvSpPr/>
          <p:nvPr/>
        </p:nvSpPr>
        <p:spPr>
          <a:xfrm>
            <a:off x="772239" y="3463766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713" y="3538240"/>
            <a:ext cx="297775" cy="2977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88463" y="3531989"/>
            <a:ext cx="248221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Normalization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1988463" y="4020979"/>
            <a:ext cx="7120057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Unified context window units (k/m → tokens) for consistency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1196102" y="4892159"/>
            <a:ext cx="595670" cy="22860"/>
          </a:xfrm>
          <a:prstGeom prst="roundRect">
            <a:avLst>
              <a:gd name="adj" fmla="val 364843"/>
            </a:avLst>
          </a:prstGeom>
          <a:solidFill>
            <a:srgbClr val="E2C8B5"/>
          </a:solidFill>
          <a:ln/>
        </p:spPr>
      </p:sp>
      <p:sp>
        <p:nvSpPr>
          <p:cNvPr id="16" name="Shape 12"/>
          <p:cNvSpPr/>
          <p:nvPr/>
        </p:nvSpPr>
        <p:spPr>
          <a:xfrm>
            <a:off x="772239" y="4680228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713" y="4754701"/>
            <a:ext cx="297775" cy="2977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88463" y="4748451"/>
            <a:ext cx="248221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Filtering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1988463" y="5237440"/>
            <a:ext cx="7120057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Removed invalid or zero-price records to ensure quality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1196102" y="6108621"/>
            <a:ext cx="595670" cy="22860"/>
          </a:xfrm>
          <a:prstGeom prst="roundRect">
            <a:avLst>
              <a:gd name="adj" fmla="val 364843"/>
            </a:avLst>
          </a:prstGeom>
          <a:solidFill>
            <a:srgbClr val="E2C8B5"/>
          </a:solidFill>
          <a:ln/>
        </p:spPr>
      </p:sp>
      <p:sp>
        <p:nvSpPr>
          <p:cNvPr id="21" name="Shape 16"/>
          <p:cNvSpPr/>
          <p:nvPr/>
        </p:nvSpPr>
        <p:spPr>
          <a:xfrm>
            <a:off x="772239" y="5896689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6713" y="5971163"/>
            <a:ext cx="297775" cy="2977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88463" y="5964912"/>
            <a:ext cx="248221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Derivation</a:t>
            </a:r>
            <a:endParaRPr lang="en-US" sz="1950" dirty="0"/>
          </a:p>
        </p:txBody>
      </p:sp>
      <p:sp>
        <p:nvSpPr>
          <p:cNvPr id="24" name="Text 18"/>
          <p:cNvSpPr/>
          <p:nvPr/>
        </p:nvSpPr>
        <p:spPr>
          <a:xfrm>
            <a:off x="1988463" y="6453902"/>
            <a:ext cx="7120057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calculated metrics like intelligence-per-dollar for deeper insights</a:t>
            </a:r>
            <a:endParaRPr lang="en-US" sz="15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3727" y="1696283"/>
            <a:ext cx="3838575" cy="383857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600486" y="5735836"/>
            <a:ext cx="4265176" cy="1695450"/>
          </a:xfrm>
          <a:prstGeom prst="roundRect">
            <a:avLst>
              <a:gd name="adj" fmla="val 4919"/>
            </a:avLst>
          </a:prstGeom>
          <a:solidFill>
            <a:srgbClr val="FAD3B8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8963" y="6031111"/>
            <a:ext cx="248126" cy="19847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245566" y="5964079"/>
            <a:ext cx="3421618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Approach:</a:t>
            </a: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Exploratory, descriptive analysis—no machine learning, no assumptions. Pure data-driven insights.</a:t>
            </a:r>
            <a:endParaRPr lang="en-US" sz="155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8F9C1C6-C5E1-49F0-9D74-A5AC10BD8BE9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607" y="1541034"/>
            <a:ext cx="5733826" cy="47461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52567" y="601980"/>
            <a:ext cx="2230041" cy="357664"/>
          </a:xfrm>
          <a:prstGeom prst="roundRect">
            <a:avLst>
              <a:gd name="adj" fmla="val 18510"/>
            </a:avLst>
          </a:prstGeom>
          <a:solidFill>
            <a:srgbClr val="FCE2C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0677" y="701993"/>
            <a:ext cx="157520" cy="157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06897" y="661035"/>
            <a:ext cx="1757601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CREATOR COMPARISON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252567" y="1030486"/>
            <a:ext cx="7611666" cy="1231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Creator-Level Performance Comparison</a:t>
            </a:r>
            <a:endParaRPr lang="en-US" sz="3850" dirty="0"/>
          </a:p>
        </p:txBody>
      </p:sp>
      <p:sp>
        <p:nvSpPr>
          <p:cNvPr id="7" name="Text 3"/>
          <p:cNvSpPr/>
          <p:nvPr/>
        </p:nvSpPr>
        <p:spPr>
          <a:xfrm>
            <a:off x="6252567" y="2332673"/>
            <a:ext cx="413885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Top 10 Vendors by Key Metrics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6229707" y="2967990"/>
            <a:ext cx="3740706" cy="4572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9" name="Text 5"/>
          <p:cNvSpPr/>
          <p:nvPr/>
        </p:nvSpPr>
        <p:spPr>
          <a:xfrm>
            <a:off x="6252567" y="3210639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Average Intelligence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252567" y="3624858"/>
            <a:ext cx="3694986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 capability scores aggregated by creator reveal strategic positioning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10146268" y="2967990"/>
            <a:ext cx="3740825" cy="45720"/>
          </a:xfrm>
          <a:prstGeom prst="rect">
            <a:avLst/>
          </a:prstGeom>
          <a:solidFill>
            <a:srgbClr val="51738C"/>
          </a:solidFill>
          <a:ln/>
        </p:spPr>
      </p:sp>
      <p:sp>
        <p:nvSpPr>
          <p:cNvPr id="12" name="Text 8"/>
          <p:cNvSpPr/>
          <p:nvPr/>
        </p:nvSpPr>
        <p:spPr>
          <a:xfrm>
            <a:off x="10169128" y="3210639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Price Distribution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0169128" y="3624858"/>
            <a:ext cx="3695105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per million tokens varies dramatically—some creators target premium, others volume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229707" y="4877753"/>
            <a:ext cx="7657386" cy="4572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5" name="Text 11"/>
          <p:cNvSpPr/>
          <p:nvPr/>
        </p:nvSpPr>
        <p:spPr>
          <a:xfrm>
            <a:off x="6252567" y="5120402"/>
            <a:ext cx="2896791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Speed &amp; Latency Patterns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252567" y="5534620"/>
            <a:ext cx="7611666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differences in vendor optimization—throughput vs. responsiveness trade-offs emerge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548080" y="6532364"/>
            <a:ext cx="7316152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</a:t>
            </a: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creator dominates all dimensions simultaneously. Each optimizes for different strategic priorities—intelligence, cost-efficiency, or performance.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6252567" y="6332934"/>
            <a:ext cx="22860" cy="1297186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E55DA5-7855-4103-80FD-32B95454A0AF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61903" y="1750219"/>
            <a:ext cx="5862918" cy="4600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668179"/>
            <a:ext cx="1757958" cy="370642"/>
          </a:xfrm>
          <a:prstGeom prst="roundRect">
            <a:avLst>
              <a:gd name="adj" fmla="val 18506"/>
            </a:avLst>
          </a:prstGeom>
          <a:solidFill>
            <a:srgbClr val="FCE2C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186" y="771882"/>
            <a:ext cx="163235" cy="1632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0978" y="729377"/>
            <a:ext cx="126837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 ANALYSIS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793790" y="1112282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Intelligence vs Price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793790" y="1823680"/>
            <a:ext cx="6986707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Does Higher Cost Guarantee Higher Intelligence?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793790" y="2481977"/>
            <a:ext cx="3686294" cy="1783199"/>
          </a:xfrm>
          <a:prstGeom prst="roundRect">
            <a:avLst>
              <a:gd name="adj" fmla="val 4808"/>
            </a:avLst>
          </a:prstGeom>
          <a:solidFill>
            <a:srgbClr val="325F7B"/>
          </a:solidFill>
          <a:ln w="7620">
            <a:solidFill>
              <a:srgbClr val="4B789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05483" y="2693670"/>
            <a:ext cx="295489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Non-Linear Relationship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05483" y="3122652"/>
            <a:ext cx="3262908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does 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</a:t>
            </a: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scale linearly with price. Value leaders emerge at mid-tier pricing.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663797" y="2481977"/>
            <a:ext cx="3686413" cy="1783199"/>
          </a:xfrm>
          <a:prstGeom prst="roundRect">
            <a:avLst>
              <a:gd name="adj" fmla="val 4808"/>
            </a:avLst>
          </a:prstGeom>
          <a:solidFill>
            <a:srgbClr val="51738C"/>
          </a:solidFill>
          <a:ln w="7620">
            <a:solidFill>
              <a:srgbClr val="6A8CA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75490" y="269367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Undervalued Models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75490" y="3122652"/>
            <a:ext cx="326302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mid-priced models compete directly with premium offerings on capability.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93790" y="4448889"/>
            <a:ext cx="7556421" cy="1472922"/>
          </a:xfrm>
          <a:prstGeom prst="roundRect">
            <a:avLst>
              <a:gd name="adj" fmla="val 5821"/>
            </a:avLst>
          </a:prstGeom>
          <a:solidFill>
            <a:srgbClr val="325F7B"/>
          </a:solidFill>
          <a:ln w="7620">
            <a:solidFill>
              <a:srgbClr val="4B789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483" y="466058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Diminishing Returns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005483" y="5089565"/>
            <a:ext cx="713303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the top end, incremental price increases deliver smaller intelligence gains.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3790" y="6128504"/>
            <a:ext cx="7556421" cy="1432798"/>
          </a:xfrm>
          <a:prstGeom prst="roundRect">
            <a:avLst>
              <a:gd name="adj" fmla="val 5984"/>
            </a:avLst>
          </a:prstGeom>
          <a:solidFill>
            <a:srgbClr val="FAD3B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863" y="6433542"/>
            <a:ext cx="255151" cy="2040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57087" y="6363176"/>
            <a:ext cx="6689050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Implication:</a:t>
            </a: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Price is a weak proxy for intelligence. Organizations can achieve enterprise-grade performance without premium pricing.</a:t>
            </a:r>
            <a:endParaRPr lang="en-US" sz="16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FDB91F-E833-48F1-AE5C-C9149DB7F5D0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664" y="471179"/>
            <a:ext cx="6036884" cy="74176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984052"/>
            <a:ext cx="2078117" cy="292418"/>
          </a:xfrm>
          <a:prstGeom prst="roundRect">
            <a:avLst>
              <a:gd name="adj" fmla="val 19548"/>
            </a:avLst>
          </a:prstGeom>
          <a:solidFill>
            <a:srgbClr val="FCE2C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2226" y="1062157"/>
            <a:ext cx="136088" cy="1360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6299" y="1035010"/>
            <a:ext cx="166997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DEEP DIVE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280190" y="1327428"/>
            <a:ext cx="549711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Speed vs Latency by Creator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6280190" y="1910001"/>
            <a:ext cx="432030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Ranked by Throughput Performance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6280190" y="2420183"/>
            <a:ext cx="3698438" cy="1173718"/>
          </a:xfrm>
          <a:prstGeom prst="roundRect">
            <a:avLst>
              <a:gd name="adj" fmla="val 608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457831" y="2688193"/>
            <a:ext cx="85011" cy="85011"/>
          </a:xfrm>
          <a:prstGeom prst="roundRect">
            <a:avLst>
              <a:gd name="adj" fmla="val 537813"/>
            </a:avLst>
          </a:prstGeom>
          <a:solidFill>
            <a:srgbClr val="D2600F"/>
          </a:solidFill>
          <a:ln/>
        </p:spPr>
      </p:sp>
      <p:sp>
        <p:nvSpPr>
          <p:cNvPr id="10" name="Text 6"/>
          <p:cNvSpPr/>
          <p:nvPr/>
        </p:nvSpPr>
        <p:spPr>
          <a:xfrm>
            <a:off x="6670357" y="2597825"/>
            <a:ext cx="256020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 Speed ≠ Low Latency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670357" y="2940010"/>
            <a:ext cx="313062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 token throughput doesn't guarantee instant responsiveness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138053" y="2420183"/>
            <a:ext cx="3698558" cy="1173718"/>
          </a:xfrm>
          <a:prstGeom prst="roundRect">
            <a:avLst>
              <a:gd name="adj" fmla="val 608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315694" y="2688193"/>
            <a:ext cx="85011" cy="85011"/>
          </a:xfrm>
          <a:prstGeom prst="roundRect">
            <a:avLst>
              <a:gd name="adj" fmla="val 537813"/>
            </a:avLst>
          </a:prstGeom>
          <a:solidFill>
            <a:srgbClr val="D2600F"/>
          </a:solidFill>
          <a:ln/>
        </p:spPr>
      </p:sp>
      <p:sp>
        <p:nvSpPr>
          <p:cNvPr id="14" name="Text 10"/>
          <p:cNvSpPr/>
          <p:nvPr/>
        </p:nvSpPr>
        <p:spPr>
          <a:xfrm>
            <a:off x="10528221" y="259782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Speed Favors Batch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0528221" y="2940010"/>
            <a:ext cx="313074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tokens/sec optimizes for offline processing and bulk workloads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80190" y="3849053"/>
            <a:ext cx="7556421" cy="935593"/>
          </a:xfrm>
          <a:prstGeom prst="roundRect">
            <a:avLst>
              <a:gd name="adj" fmla="val 763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57831" y="4117062"/>
            <a:ext cx="85011" cy="85011"/>
          </a:xfrm>
          <a:prstGeom prst="roundRect">
            <a:avLst>
              <a:gd name="adj" fmla="val 537813"/>
            </a:avLst>
          </a:prstGeom>
          <a:solidFill>
            <a:srgbClr val="D2600F"/>
          </a:solidFill>
          <a:ln/>
        </p:spPr>
      </p:sp>
      <p:sp>
        <p:nvSpPr>
          <p:cNvPr id="18" name="Text 14"/>
          <p:cNvSpPr/>
          <p:nvPr/>
        </p:nvSpPr>
        <p:spPr>
          <a:xfrm>
            <a:off x="6670357" y="4026694"/>
            <a:ext cx="217610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Latency for Real-Time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6670357" y="4368879"/>
            <a:ext cx="698861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initial response time is critical for interactive, user-facing applications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80190" y="5013152"/>
            <a:ext cx="7556421" cy="28813"/>
          </a:xfrm>
          <a:prstGeom prst="rect">
            <a:avLst/>
          </a:prstGeom>
          <a:solidFill>
            <a:srgbClr val="2B2E3C">
              <a:alpha val="5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280190" y="5233273"/>
            <a:ext cx="219551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Strategic Implications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6280190" y="5690354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Batch analytics:</a:t>
            </a: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Prioritize speed (tokens/sec)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280190" y="5973128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Chatbots &amp; assistants:</a:t>
            </a: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Prioritize latency (time to first token)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280190" y="6255901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Mixed workloads:</a:t>
            </a: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Balance both—or deploy specialized models per use case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280190" y="6637496"/>
            <a:ext cx="7556421" cy="607933"/>
          </a:xfrm>
          <a:prstGeom prst="roundRect">
            <a:avLst>
              <a:gd name="adj" fmla="val 11753"/>
            </a:avLst>
          </a:prstGeom>
          <a:solidFill>
            <a:srgbClr val="FAD3B8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211" y="6884075"/>
            <a:ext cx="212646" cy="17002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32878" y="6807517"/>
            <a:ext cx="68337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decisions should align with workload characteristics, not vendor defaults.</a:t>
            </a:r>
            <a:endParaRPr lang="en-US" sz="13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EE4746A-C919-43DC-B730-8754CE43370F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7698"/>
            <a:ext cx="2558653" cy="317778"/>
          </a:xfrm>
          <a:prstGeom prst="roundRect">
            <a:avLst>
              <a:gd name="adj" fmla="val 19187"/>
            </a:avLst>
          </a:prstGeom>
          <a:solidFill>
            <a:srgbClr val="FCE2C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613" y="714018"/>
            <a:ext cx="145137" cy="145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0259" y="682109"/>
            <a:ext cx="21233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WINDOW CAPABILITY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3790" y="1003459"/>
            <a:ext cx="903672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Context Window Capability (Top 10 Models)</a:t>
            </a:r>
            <a:endParaRPr lang="en-US" sz="355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73903" y="1628419"/>
            <a:ext cx="6612046" cy="35178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3790" y="5233273"/>
            <a:ext cx="4250769" cy="1532334"/>
          </a:xfrm>
          <a:prstGeom prst="roundRect">
            <a:avLst>
              <a:gd name="adj" fmla="val 497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784985" y="542234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Rare at Scale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82861" y="5792867"/>
            <a:ext cx="3872627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Extremely large context windows are still a specialized feature, not broadly available across all models.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189696" y="5233273"/>
            <a:ext cx="4250888" cy="1532334"/>
          </a:xfrm>
          <a:prstGeom prst="roundRect">
            <a:avLst>
              <a:gd name="adj" fmla="val 497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81011" y="542234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Cost Implications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378768" y="5792867"/>
            <a:ext cx="3872746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context capacity often correlates with increased operational costs and resource consumption.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585722" y="5233273"/>
            <a:ext cx="4250888" cy="1532334"/>
          </a:xfrm>
          <a:prstGeom prst="roundRect">
            <a:avLst>
              <a:gd name="adj" fmla="val 497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321528" y="5422344"/>
            <a:ext cx="277915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 Intelligence Guarantee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9774793" y="5792867"/>
            <a:ext cx="3872746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larger context window does not automatically translate to higher intelligence or better reasoning abilities.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93790" y="6928842"/>
            <a:ext cx="13042821" cy="673060"/>
          </a:xfrm>
          <a:prstGeom prst="roundRect">
            <a:avLst>
              <a:gd name="adj" fmla="val 11324"/>
            </a:avLst>
          </a:prstGeom>
          <a:solidFill>
            <a:srgbClr val="FAD3B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41" y="7194947"/>
            <a:ext cx="226814" cy="1814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3506" y="7119342"/>
            <a:ext cx="1227165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Takeaway: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Large context capacity is a specialized feature, not a default requirement. Assess actual use case needs carefully.</a:t>
            </a:r>
            <a:endParaRPr lang="en-US" sz="1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B36078B-D5A4-48A0-A8B7-F6B159A6192B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05165" y="2342431"/>
            <a:ext cx="5853113" cy="31926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04863"/>
            <a:ext cx="6247924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Use-Case-Driven Model Distribution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93790" y="1303853"/>
            <a:ext cx="2728436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Models Are Best Used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904280" y="1723906"/>
            <a:ext cx="15240" cy="5700832"/>
          </a:xfrm>
          <a:prstGeom prst="roundRect">
            <a:avLst>
              <a:gd name="adj" fmla="val 406325"/>
            </a:avLst>
          </a:prstGeom>
          <a:solidFill>
            <a:srgbClr val="E2C8B5"/>
          </a:solidFill>
          <a:ln/>
        </p:spPr>
      </p:sp>
      <p:sp>
        <p:nvSpPr>
          <p:cNvPr id="6" name="Shape 3"/>
          <p:cNvSpPr/>
          <p:nvPr/>
        </p:nvSpPr>
        <p:spPr>
          <a:xfrm>
            <a:off x="889040" y="2209681"/>
            <a:ext cx="442198" cy="15240"/>
          </a:xfrm>
          <a:prstGeom prst="roundRect">
            <a:avLst>
              <a:gd name="adj" fmla="val 406325"/>
            </a:avLst>
          </a:prstGeom>
          <a:solidFill>
            <a:srgbClr val="E2C8B5"/>
          </a:solidFill>
          <a:ln/>
        </p:spPr>
      </p:sp>
      <p:sp>
        <p:nvSpPr>
          <p:cNvPr id="7" name="Shape 4"/>
          <p:cNvSpPr/>
          <p:nvPr/>
        </p:nvSpPr>
        <p:spPr>
          <a:xfrm>
            <a:off x="849035" y="2162056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D2600F"/>
          </a:solidFill>
          <a:ln/>
        </p:spPr>
      </p:sp>
      <p:sp>
        <p:nvSpPr>
          <p:cNvPr id="8" name="Shape 5"/>
          <p:cNvSpPr/>
          <p:nvPr/>
        </p:nvSpPr>
        <p:spPr>
          <a:xfrm>
            <a:off x="1346597" y="1723906"/>
            <a:ext cx="7003613" cy="986909"/>
          </a:xfrm>
          <a:prstGeom prst="roundRect">
            <a:avLst>
              <a:gd name="adj" fmla="val 62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1616" y="187892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Developers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01616" y="2166699"/>
            <a:ext cx="669357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 </a:t>
            </a:r>
            <a:r>
              <a:rPr lang="en-US" sz="11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optimized models</a:t>
            </a: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rapid response and high throughput in interactive applications and APIs.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89040" y="3388162"/>
            <a:ext cx="442198" cy="15240"/>
          </a:xfrm>
          <a:prstGeom prst="roundRect">
            <a:avLst>
              <a:gd name="adj" fmla="val 406325"/>
            </a:avLst>
          </a:prstGeom>
          <a:solidFill>
            <a:srgbClr val="E2C8B5"/>
          </a:solidFill>
          <a:ln/>
        </p:spPr>
      </p:sp>
      <p:sp>
        <p:nvSpPr>
          <p:cNvPr id="12" name="Shape 9"/>
          <p:cNvSpPr/>
          <p:nvPr/>
        </p:nvSpPr>
        <p:spPr>
          <a:xfrm>
            <a:off x="849035" y="3340537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D2600F"/>
          </a:solidFill>
          <a:ln/>
        </p:spPr>
      </p:sp>
      <p:sp>
        <p:nvSpPr>
          <p:cNvPr id="13" name="Shape 10"/>
          <p:cNvSpPr/>
          <p:nvPr/>
        </p:nvSpPr>
        <p:spPr>
          <a:xfrm>
            <a:off x="1346597" y="2902387"/>
            <a:ext cx="7003613" cy="986909"/>
          </a:xfrm>
          <a:prstGeom prst="roundRect">
            <a:avLst>
              <a:gd name="adj" fmla="val 62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1616" y="3057406"/>
            <a:ext cx="264937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Scientists &amp; ML Engineers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501616" y="3345180"/>
            <a:ext cx="669357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 models with superior </a:t>
            </a:r>
            <a:r>
              <a:rPr lang="en-US" sz="11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and extensive context windows</a:t>
            </a: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complex data analysis, advanced problem-solving, and model fine-tuning.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89040" y="4566642"/>
            <a:ext cx="442198" cy="15240"/>
          </a:xfrm>
          <a:prstGeom prst="roundRect">
            <a:avLst>
              <a:gd name="adj" fmla="val 406325"/>
            </a:avLst>
          </a:prstGeom>
          <a:solidFill>
            <a:srgbClr val="E2C8B5"/>
          </a:solidFill>
          <a:ln/>
        </p:spPr>
      </p:sp>
      <p:sp>
        <p:nvSpPr>
          <p:cNvPr id="17" name="Shape 14"/>
          <p:cNvSpPr/>
          <p:nvPr/>
        </p:nvSpPr>
        <p:spPr>
          <a:xfrm>
            <a:off x="849035" y="4519017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D2600F"/>
          </a:solidFill>
          <a:ln/>
        </p:spPr>
      </p:sp>
      <p:sp>
        <p:nvSpPr>
          <p:cNvPr id="18" name="Shape 15"/>
          <p:cNvSpPr/>
          <p:nvPr/>
        </p:nvSpPr>
        <p:spPr>
          <a:xfrm>
            <a:off x="1346597" y="4080867"/>
            <a:ext cx="7003613" cy="986909"/>
          </a:xfrm>
          <a:prstGeom prst="roundRect">
            <a:avLst>
              <a:gd name="adj" fmla="val 62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01616" y="423588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Researchers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501616" y="4523661"/>
            <a:ext cx="669357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 models pushing the boundaries of </a:t>
            </a:r>
            <a:r>
              <a:rPr lang="en-US" sz="11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maximum capability</a:t>
            </a: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focusing on cutting-edge performance and novel applications rather than cost.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89040" y="5745123"/>
            <a:ext cx="442198" cy="15240"/>
          </a:xfrm>
          <a:prstGeom prst="roundRect">
            <a:avLst>
              <a:gd name="adj" fmla="val 406325"/>
            </a:avLst>
          </a:prstGeom>
          <a:solidFill>
            <a:srgbClr val="E2C8B5"/>
          </a:solidFill>
          <a:ln/>
        </p:spPr>
      </p:sp>
      <p:sp>
        <p:nvSpPr>
          <p:cNvPr id="22" name="Shape 19"/>
          <p:cNvSpPr/>
          <p:nvPr/>
        </p:nvSpPr>
        <p:spPr>
          <a:xfrm>
            <a:off x="849035" y="5697498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D2600F"/>
          </a:solidFill>
          <a:ln/>
        </p:spPr>
      </p:sp>
      <p:sp>
        <p:nvSpPr>
          <p:cNvPr id="23" name="Shape 20"/>
          <p:cNvSpPr/>
          <p:nvPr/>
        </p:nvSpPr>
        <p:spPr>
          <a:xfrm>
            <a:off x="1346597" y="5259348"/>
            <a:ext cx="7003613" cy="986909"/>
          </a:xfrm>
          <a:prstGeom prst="roundRect">
            <a:avLst>
              <a:gd name="adj" fmla="val 62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01616" y="541436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Business Analysts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501616" y="5702141"/>
            <a:ext cx="669357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Seek </a:t>
            </a:r>
            <a:r>
              <a:rPr lang="en-US" sz="11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cost-efficient intelligence</a:t>
            </a: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finding models that offer strong performance at an optimal price point for impactful, budget-conscious insights.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89040" y="6923603"/>
            <a:ext cx="442198" cy="15240"/>
          </a:xfrm>
          <a:prstGeom prst="roundRect">
            <a:avLst>
              <a:gd name="adj" fmla="val 406325"/>
            </a:avLst>
          </a:prstGeom>
          <a:solidFill>
            <a:srgbClr val="E2C8B5"/>
          </a:solidFill>
          <a:ln/>
        </p:spPr>
      </p:sp>
      <p:sp>
        <p:nvSpPr>
          <p:cNvPr id="27" name="Shape 24"/>
          <p:cNvSpPr/>
          <p:nvPr/>
        </p:nvSpPr>
        <p:spPr>
          <a:xfrm>
            <a:off x="849035" y="6875978"/>
            <a:ext cx="110490" cy="110490"/>
          </a:xfrm>
          <a:prstGeom prst="roundRect">
            <a:avLst>
              <a:gd name="adj" fmla="val 413793"/>
            </a:avLst>
          </a:prstGeom>
          <a:solidFill>
            <a:srgbClr val="D2600F"/>
          </a:solidFill>
          <a:ln/>
        </p:spPr>
      </p:sp>
      <p:sp>
        <p:nvSpPr>
          <p:cNvPr id="28" name="Shape 25"/>
          <p:cNvSpPr/>
          <p:nvPr/>
        </p:nvSpPr>
        <p:spPr>
          <a:xfrm>
            <a:off x="1346597" y="6437828"/>
            <a:ext cx="7003613" cy="986909"/>
          </a:xfrm>
          <a:prstGeom prst="roundRect">
            <a:avLst>
              <a:gd name="adj" fmla="val 62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01616" y="659284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General Users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501616" y="6880622"/>
            <a:ext cx="669357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from </a:t>
            </a:r>
            <a:r>
              <a:rPr lang="en-US" sz="11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models</a:t>
            </a:r>
            <a:r>
              <a:rPr lang="en-US" sz="11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offer a good blend of intelligence, speed, and cost-effectiveness for versatile everyday tasks and content generation.</a:t>
            </a:r>
            <a:endParaRPr lang="en-US" sz="115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6C10062-D583-4ED2-94AB-C766442A5768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22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Conclusions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611749"/>
            <a:ext cx="589573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We Learned From This Analysis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377202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4351" y="2611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 Universal "Best"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10205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models are optimized for specific strengths; a one-size-fits-all solution doesn't exist.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77202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2611636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Price-Intelligence Disconnect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456384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cost does not automatically equate to superior intelligence; value leaders emerge at various price points.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377202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20695" y="2611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Speed vs. Latency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3102054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Throughput (speed) and responsiveness (latency) are distinct metrics requiring separate optimization strategies.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369243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8529" y="5603677"/>
            <a:ext cx="29584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Balance is Uncommon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8224" y="609409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Models excelling across all dimensions (intelligence, speed, latency) are exceptionally rare; most specialize.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69243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1707" y="5603677"/>
            <a:ext cx="34815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Use-Case Driven Selection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62982" y="6094095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model choice hinges on aligning specific organizational needs and performance priorities with model capabilities.</a:t>
            </a:r>
            <a:endParaRPr lang="en-US" sz="17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8E286F-EAED-4D59-A928-51BA492EBFD0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731996"/>
            <a:ext cx="3038118" cy="343614"/>
          </a:xfrm>
          <a:prstGeom prst="roundRect">
            <a:avLst>
              <a:gd name="adj" fmla="val 18853"/>
            </a:avLst>
          </a:prstGeom>
          <a:solidFill>
            <a:srgbClr val="FCE2C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399" y="826651"/>
            <a:ext cx="154186" cy="1541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0619" y="789742"/>
            <a:ext cx="2575679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 &amp; NEXT STEPS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93790" y="1141095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Recommendations</a:t>
            </a:r>
            <a:endParaRPr lang="en-US" sz="3750" dirty="0"/>
          </a:p>
        </p:txBody>
      </p:sp>
      <p:sp>
        <p:nvSpPr>
          <p:cNvPr id="7" name="Text 3"/>
          <p:cNvSpPr/>
          <p:nvPr/>
        </p:nvSpPr>
        <p:spPr>
          <a:xfrm>
            <a:off x="793790" y="1809036"/>
            <a:ext cx="5278160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Actionable Insights for Model Selection</a:t>
            </a:r>
            <a:endParaRPr lang="en-US" sz="2250" dirty="0"/>
          </a:p>
        </p:txBody>
      </p:sp>
      <p:sp>
        <p:nvSpPr>
          <p:cNvPr id="8" name="Shape 4"/>
          <p:cNvSpPr/>
          <p:nvPr/>
        </p:nvSpPr>
        <p:spPr>
          <a:xfrm>
            <a:off x="793790" y="2416254"/>
            <a:ext cx="7556421" cy="5081230"/>
          </a:xfrm>
          <a:prstGeom prst="roundRect">
            <a:avLst>
              <a:gd name="adj" fmla="val 159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1410" y="2423874"/>
            <a:ext cx="3770590" cy="1884164"/>
          </a:xfrm>
          <a:prstGeom prst="roundRect">
            <a:avLst>
              <a:gd name="adj" fmla="val 4298"/>
            </a:avLst>
          </a:prstGeom>
          <a:solidFill>
            <a:srgbClr val="FCE2CF"/>
          </a:solidFill>
          <a:ln/>
        </p:spPr>
      </p:sp>
      <p:sp>
        <p:nvSpPr>
          <p:cNvPr id="10" name="Text 6"/>
          <p:cNvSpPr/>
          <p:nvPr/>
        </p:nvSpPr>
        <p:spPr>
          <a:xfrm>
            <a:off x="965240" y="2587704"/>
            <a:ext cx="319706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Avoid Defaulting to Premium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65240" y="3288387"/>
            <a:ext cx="3197066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Don't select models based on perceived prestige; justify choices with clear performance metrics.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0" y="2423874"/>
            <a:ext cx="3770590" cy="1884164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0" y="2423874"/>
            <a:ext cx="22860" cy="1884164"/>
          </a:xfrm>
          <a:prstGeom prst="roundRect">
            <a:avLst>
              <a:gd name="adj" fmla="val 354232"/>
            </a:avLst>
          </a:prstGeom>
          <a:solidFill>
            <a:srgbClr val="E2C8B5"/>
          </a:solidFill>
          <a:ln/>
        </p:spPr>
      </p:sp>
      <p:sp>
        <p:nvSpPr>
          <p:cNvPr id="14" name="Text 10"/>
          <p:cNvSpPr/>
          <p:nvPr/>
        </p:nvSpPr>
        <p:spPr>
          <a:xfrm>
            <a:off x="4981694" y="2587704"/>
            <a:ext cx="319706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Prioritize Intelligence-per-Dollar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981694" y="3288387"/>
            <a:ext cx="3197066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budget-sensitive projects, identify models that offer the best performance for their cost.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331018" y="3124914"/>
            <a:ext cx="481965" cy="481965"/>
          </a:xfrm>
          <a:prstGeom prst="roundRect">
            <a:avLst>
              <a:gd name="adj" fmla="val 16802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1509" y="3245406"/>
            <a:ext cx="240983" cy="24098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1410" y="4308038"/>
            <a:ext cx="3770590" cy="1884164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19" name="Shape 14"/>
          <p:cNvSpPr/>
          <p:nvPr/>
        </p:nvSpPr>
        <p:spPr>
          <a:xfrm>
            <a:off x="801410" y="4308038"/>
            <a:ext cx="3770590" cy="22860"/>
          </a:xfrm>
          <a:prstGeom prst="roundRect">
            <a:avLst>
              <a:gd name="adj" fmla="val 354232"/>
            </a:avLst>
          </a:prstGeom>
          <a:solidFill>
            <a:srgbClr val="E2C8B5"/>
          </a:solidFill>
          <a:ln/>
        </p:spPr>
      </p:sp>
      <p:sp>
        <p:nvSpPr>
          <p:cNvPr id="20" name="Text 15"/>
          <p:cNvSpPr/>
          <p:nvPr/>
        </p:nvSpPr>
        <p:spPr>
          <a:xfrm>
            <a:off x="1358741" y="447186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Optimize for Latency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965240" y="4871323"/>
            <a:ext cx="3197066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real-time applications, prioritize models with fast initial response times (time to first token).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572000" y="4308038"/>
            <a:ext cx="3770590" cy="1884164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23" name="Shape 18"/>
          <p:cNvSpPr/>
          <p:nvPr/>
        </p:nvSpPr>
        <p:spPr>
          <a:xfrm>
            <a:off x="4572000" y="4308038"/>
            <a:ext cx="22860" cy="1884164"/>
          </a:xfrm>
          <a:prstGeom prst="roundRect">
            <a:avLst>
              <a:gd name="adj" fmla="val 354232"/>
            </a:avLst>
          </a:prstGeom>
          <a:solidFill>
            <a:srgbClr val="E2C8B5"/>
          </a:solidFill>
          <a:ln/>
        </p:spPr>
      </p:sp>
      <p:sp>
        <p:nvSpPr>
          <p:cNvPr id="24" name="Shape 19"/>
          <p:cNvSpPr/>
          <p:nvPr/>
        </p:nvSpPr>
        <p:spPr>
          <a:xfrm>
            <a:off x="4572000" y="4308038"/>
            <a:ext cx="3770590" cy="22860"/>
          </a:xfrm>
          <a:prstGeom prst="roundRect">
            <a:avLst>
              <a:gd name="adj" fmla="val 354232"/>
            </a:avLst>
          </a:prstGeom>
          <a:solidFill>
            <a:srgbClr val="E2C8B5"/>
          </a:solidFill>
          <a:ln/>
        </p:spPr>
      </p:sp>
      <p:sp>
        <p:nvSpPr>
          <p:cNvPr id="25" name="Text 20"/>
          <p:cNvSpPr/>
          <p:nvPr/>
        </p:nvSpPr>
        <p:spPr>
          <a:xfrm>
            <a:off x="4981694" y="4471868"/>
            <a:ext cx="319706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Choose High-Speed for Batch</a:t>
            </a:r>
            <a:endParaRPr lang="en-US" sz="1850" dirty="0"/>
          </a:p>
        </p:txBody>
      </p:sp>
      <p:sp>
        <p:nvSpPr>
          <p:cNvPr id="26" name="Text 21"/>
          <p:cNvSpPr/>
          <p:nvPr/>
        </p:nvSpPr>
        <p:spPr>
          <a:xfrm>
            <a:off x="4981694" y="5172551"/>
            <a:ext cx="3197066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bulk data processing and offline tasks, select models with high token throughput.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4331018" y="5009078"/>
            <a:ext cx="481965" cy="481965"/>
          </a:xfrm>
          <a:prstGeom prst="roundRect">
            <a:avLst>
              <a:gd name="adj" fmla="val 16802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1509" y="5129570"/>
            <a:ext cx="240983" cy="240983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01410" y="6192203"/>
            <a:ext cx="7541181" cy="1297662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30" name="Shape 24"/>
          <p:cNvSpPr/>
          <p:nvPr/>
        </p:nvSpPr>
        <p:spPr>
          <a:xfrm>
            <a:off x="801410" y="6192203"/>
            <a:ext cx="7541181" cy="22860"/>
          </a:xfrm>
          <a:prstGeom prst="roundRect">
            <a:avLst>
              <a:gd name="adj" fmla="val 354232"/>
            </a:avLst>
          </a:prstGeom>
          <a:solidFill>
            <a:srgbClr val="E2C8B5"/>
          </a:solidFill>
          <a:ln/>
        </p:spPr>
      </p:sp>
      <p:sp>
        <p:nvSpPr>
          <p:cNvPr id="31" name="Text 25"/>
          <p:cNvSpPr/>
          <p:nvPr/>
        </p:nvSpPr>
        <p:spPr>
          <a:xfrm>
            <a:off x="2597825" y="6356032"/>
            <a:ext cx="37023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Context Windows are Specialized</a:t>
            </a:r>
            <a:endParaRPr lang="en-US" sz="1850" dirty="0"/>
          </a:p>
        </p:txBody>
      </p:sp>
      <p:sp>
        <p:nvSpPr>
          <p:cNvPr id="32" name="Text 26"/>
          <p:cNvSpPr/>
          <p:nvPr/>
        </p:nvSpPr>
        <p:spPr>
          <a:xfrm>
            <a:off x="965240" y="6755487"/>
            <a:ext cx="696765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Treat large context capabilities as a feature for specific use cases, not a universal requirement.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3405902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24B6C71-5E45-4E88-99BB-F61D33CBB8BF}"/>
              </a:ext>
            </a:extLst>
          </p:cNvPr>
          <p:cNvSpPr/>
          <p:nvPr/>
        </p:nvSpPr>
        <p:spPr>
          <a:xfrm>
            <a:off x="12747812" y="7627172"/>
            <a:ext cx="1882588" cy="527124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1029</Words>
  <Application>Microsoft Office PowerPoint</Application>
  <PresentationFormat>Custom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Open Sans</vt:lpstr>
      <vt:lpstr>Bitter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Rupnath Shaw</cp:lastModifiedBy>
  <cp:revision>5</cp:revision>
  <dcterms:created xsi:type="dcterms:W3CDTF">2026-01-24T14:30:30Z</dcterms:created>
  <dcterms:modified xsi:type="dcterms:W3CDTF">2026-01-26T16:06:30Z</dcterms:modified>
</cp:coreProperties>
</file>